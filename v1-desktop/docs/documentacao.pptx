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21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5143500" type="screen16x9"/>
  <p:notesSz cx="51435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Click to move the slide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CE0F22A-BDDB-46A9-AD30-4457380FD546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BF12A9-4063-408F-ACD0-2254CB46F70B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93BA51-4B23-4651-AFD0-D3C927D369C4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CCB5C80-4C41-4B68-B7A7-7EF4B07849E2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70E3F39-E13B-4619-98F8-0382808EB87D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E4F481D-9825-4BC5-AFDE-CDB0D6B57C35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F777CB4-9044-4818-AC51-DB611E81F278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E5D25F6-694F-4D68-838A-BC20E1F82F46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98B1F53-D30B-4D7E-A091-4B704C5997D1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8B345C4-11DC-4472-B91B-B5AB123C1407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55A3E69-ED1F-44D4-9E9C-4446C55D134B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1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83FB672-E5F7-44D2-83EF-E1504A0657AD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A3EDB7F-FF47-41D5-B399-0F5DB62A250F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1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1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E5FF61F-79FF-4800-B7F6-8859EF3F743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4D4B6E5B-BBC4-4349-92EE-568233F761C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AD93663D-C7D0-4A3C-B6E2-7CC1ED46F0E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41BCFE0-67D5-480A-BC6C-05F1C75F9417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1D706235-E751-4586-9652-623A09EFA5AF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1AC8C66E-C47C-46CD-940B-6AE56652E71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685800">
              <a:lnSpc>
                <a:spcPct val="90000"/>
              </a:lnSpc>
              <a:buNone/>
            </a:pPr>
            <a:r>
              <a:rPr lang="pt-BR" sz="45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45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 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2DFDCB-F660-4F7F-BBF9-AC104587CB38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33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33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Segundo nível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Terceiro nível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Quarto nível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Quinto nível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F45428-3A25-41F8-AC1E-64CCFF779281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543720" y="273960"/>
            <a:ext cx="1971360" cy="43585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33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33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28560" y="273960"/>
            <a:ext cx="5800320" cy="43585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Segundo nível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Terceiro nível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Quarto nível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Quinto nível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D2A578-6F41-45F0-AB04-DAF7E356322B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33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33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Segundo nível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Terceiro nível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Quarto nível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Quinto nível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365512-76BA-4158-B0BB-EFC553B165E9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6520" cy="213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45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45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652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pt-BR" sz="18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Clique para editar os estilos de texto Mestres</a:t>
            </a:r>
            <a:endParaRPr lang="pt-BR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E005D1-7A4C-4DD2-9C8D-FBC4B74FE6A2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33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33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Segundo nível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Terceiro nível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Quarto nível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Quinto nível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Segundo nível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Terceiro nível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Quarto nível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Quinto nível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5E8DEF-AFC2-4850-A45E-B7A08FDBDDD3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33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33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7840" cy="6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pt-BR" sz="1800" b="1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lang="pt-BR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7840" cy="276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Segundo nível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Terceiro nível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Quarto nível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Quinto nível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920" cy="6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pt-BR" sz="1800" b="1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  <a:endParaRPr lang="pt-BR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920" cy="276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Segundo nível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Terceiro nível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Quarto nível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350" b="0" strike="noStrike" spc="-1">
                <a:solidFill>
                  <a:schemeClr val="dk1"/>
                </a:solidFill>
                <a:latin typeface="Aptos"/>
              </a:rPr>
              <a:t>Quinto nível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dt" idx="19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0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8"/>
          <p:cNvSpPr>
            <a:spLocks noGrp="1"/>
          </p:cNvSpPr>
          <p:nvPr>
            <p:ph type="sldNum" idx="21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0CC0E1-E2E7-4E09-AEB8-1B3C184CE929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33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33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970383-F4FD-40CC-82F5-C7B7847E8D78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06ABED-BC20-4C1F-A931-703DA1702B26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24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chemeClr val="dk1"/>
                </a:solidFill>
                <a:latin typeface="Aptos"/>
              </a:rPr>
              <a:t>Segundo nível</a:t>
            </a: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Aptos"/>
              </a:rPr>
              <a:t>Terceiro nível</a:t>
            </a: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Quarto nível</a:t>
            </a: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1500" b="0" strike="noStrike" spc="-1">
                <a:solidFill>
                  <a:schemeClr val="dk1"/>
                </a:solidFill>
                <a:latin typeface="Aptos"/>
              </a:rPr>
              <a:t>Quinto nível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79322B-54E6-49F4-BB3D-FFC48417B7F4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pt-BR" sz="2400" b="0" strike="noStrike" spc="-1">
                <a:solidFill>
                  <a:schemeClr val="dk1"/>
                </a:solidFill>
                <a:latin typeface="Aptos Display"/>
              </a:rPr>
              <a:t>Clique para editar o título Mestre</a:t>
            </a:r>
            <a:endParaRPr lang="pt-BR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pt-BR" sz="1200" b="0" strike="noStrike" spc="-1">
                <a:solidFill>
                  <a:schemeClr val="dk1"/>
                </a:solidFill>
                <a:latin typeface="Aptos"/>
              </a:rPr>
              <a:t>Clique para editar os estilos de texto Mestres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3B13DF-2A16-47A1-A060-6FC83D4BD0E0}" type="slidenum">
              <a:rPr lang="en-US" sz="9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‹nº›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1389600" y="1522800"/>
            <a:ext cx="914040" cy="1142640"/>
          </a:xfrm>
          <a:prstGeom prst="rect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1526760" y="1751400"/>
            <a:ext cx="548280" cy="7272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1526760" y="1915920"/>
            <a:ext cx="459720" cy="7272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1526760" y="2080440"/>
            <a:ext cx="365400" cy="7272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1051560" y="12024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FFFFFF"/>
                </a:solidFill>
                <a:latin typeface="Calibri"/>
                <a:ea typeface="Calibri"/>
              </a:rPr>
              <a:t>Ficha de Ocorrência Disciplinar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952920" y="184068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A8C4E8"/>
                </a:solidFill>
                <a:latin typeface="Calibri"/>
                <a:ea typeface="Calibri"/>
              </a:rPr>
              <a:t>Sistema Digital de Registro Escolar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3087720" y="2365560"/>
            <a:ext cx="4571640" cy="36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952920" y="250380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A8C4E8"/>
                </a:solidFill>
                <a:latin typeface="Calibri"/>
                <a:ea typeface="Calibri"/>
              </a:rPr>
              <a:t>E.E. João Paulo II  ·  Mauá – SP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1143000" y="3108960"/>
            <a:ext cx="1188360" cy="347040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1143000" y="31089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Python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2514600" y="3108960"/>
            <a:ext cx="1188360" cy="347040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2514600" y="31089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CustomTkinter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3886200" y="3108960"/>
            <a:ext cx="1188360" cy="347040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3886200" y="31089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ReportLab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5257800" y="3108960"/>
            <a:ext cx="1188360" cy="347040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5257800" y="31089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SMTP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6629400" y="3108960"/>
            <a:ext cx="1188360" cy="347040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6629400" y="31089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WhatsApp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274320" y="467460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6A8AB0"/>
                </a:solidFill>
                <a:latin typeface="Calibri"/>
                <a:ea typeface="Calibri"/>
              </a:rPr>
              <a:t>Projeto Individual — 2026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CaixaDeTexto 28"/>
          <p:cNvSpPr/>
          <p:nvPr/>
        </p:nvSpPr>
        <p:spPr>
          <a:xfrm>
            <a:off x="1288800" y="4817880"/>
            <a:ext cx="638352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A8AB0"/>
                </a:solidFill>
                <a:latin typeface="Calibri"/>
                <a:ea typeface="Calibri"/>
              </a:rPr>
              <a:t>Diogo Monari Figueiredo 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  <a:ea typeface="Calibri"/>
              </a:rPr>
              <a:t>O Problema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365760" y="1325880"/>
            <a:ext cx="265140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1015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365760" y="1325880"/>
            <a:ext cx="2651400" cy="72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365760" y="15544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Aptos"/>
              </a:rPr>
              <a:t>📄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502920" y="23774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Processo Manual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502920" y="292608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A6478"/>
                </a:solidFill>
                <a:latin typeface="Calibri"/>
                <a:ea typeface="Calibri"/>
              </a:rPr>
              <a:t>Fichas preenchidas à mão, sujeitas a erros e rasuras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3200400" y="1325880"/>
            <a:ext cx="265140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1015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3200400" y="1325880"/>
            <a:ext cx="2651400" cy="72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3200400" y="15544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Aptos"/>
              </a:rPr>
              <a:t>📬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3337560" y="23774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Sem Notificação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3337560" y="292608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A6478"/>
                </a:solidFill>
                <a:latin typeface="Calibri"/>
                <a:ea typeface="Calibri"/>
              </a:rPr>
              <a:t>Pais e responsáveis não eram avisados de forma rápida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6035040" y="1325880"/>
            <a:ext cx="265140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101520" dist="25455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6035040" y="1325880"/>
            <a:ext cx="2651400" cy="72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6035040" y="1554480"/>
            <a:ext cx="26514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Aptos"/>
              </a:rPr>
              <a:t>🗂️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6172200" y="23774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Sem Organização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6172200" y="292608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A6478"/>
                </a:solidFill>
                <a:latin typeface="Calibri"/>
                <a:ea typeface="Calibri"/>
              </a:rPr>
              <a:t>Documentos físicos perdidos, sem histórico acessível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  <a:ea typeface="Calibri"/>
              </a:rPr>
              <a:t>A Solução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457200" y="118872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478"/>
                </a:solidFill>
                <a:latin typeface="Calibri"/>
                <a:ea typeface="Calibri"/>
              </a:rPr>
              <a:t>Aplicativo desktop que digitaliza todo o processo de registro de ocorrência disciplinar: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457200" y="1737360"/>
            <a:ext cx="822924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457200" y="1737360"/>
            <a:ext cx="63720" cy="63972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594360" y="173736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Aptos"/>
              </a:rPr>
              <a:t>📋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1234440" y="173736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A1F2E"/>
                </a:solidFill>
                <a:latin typeface="Calibri"/>
                <a:ea typeface="Calibri"/>
              </a:rPr>
              <a:t>Formulário digital com checklist de ocorrências e providências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457200" y="2487240"/>
            <a:ext cx="822924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457200" y="2487240"/>
            <a:ext cx="63720" cy="63972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594360" y="248724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Aptos"/>
              </a:rPr>
              <a:t>📄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1234440" y="248724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A1F2E"/>
                </a:solidFill>
                <a:latin typeface="Calibri"/>
                <a:ea typeface="Calibri"/>
              </a:rPr>
              <a:t>Geração automática de PDF oficial com logo da Secretaria de Educação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457200" y="3237120"/>
            <a:ext cx="822924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457200" y="3237120"/>
            <a:ext cx="63720" cy="63972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594360" y="323712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Aptos"/>
              </a:rPr>
              <a:t>📧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1234440" y="323712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A1F2E"/>
                </a:solidFill>
                <a:latin typeface="Calibri"/>
                <a:ea typeface="Calibri"/>
              </a:rPr>
              <a:t>Envio automático por e-mail para a coordenação da escola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6"/>
          <p:cNvSpPr/>
          <p:nvPr/>
        </p:nvSpPr>
        <p:spPr>
          <a:xfrm>
            <a:off x="457200" y="3986640"/>
            <a:ext cx="822924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457200" y="3986640"/>
            <a:ext cx="63720" cy="63972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594360" y="398664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000000"/>
                </a:solidFill>
                <a:latin typeface="Aptos"/>
              </a:rPr>
              <a:t>📱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1234440" y="398664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A1F2E"/>
                </a:solidFill>
                <a:latin typeface="Calibri"/>
                <a:ea typeface="Calibri"/>
              </a:rPr>
              <a:t>Notificação via WhatsApp para o responsável pelo aluno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  <a:ea typeface="Calibri"/>
              </a:rPr>
              <a:t>Interface do Sistema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274320" y="1143000"/>
            <a:ext cx="411444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12708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3"/>
          <a:stretch/>
        </p:blipFill>
        <p:spPr>
          <a:xfrm>
            <a:off x="320040" y="1188720"/>
            <a:ext cx="4023000" cy="2742840"/>
          </a:xfrm>
          <a:prstGeom prst="rect">
            <a:avLst/>
          </a:prstGeom>
          <a:ln w="0">
            <a:noFill/>
          </a:ln>
        </p:spPr>
      </p:pic>
      <p:sp>
        <p:nvSpPr>
          <p:cNvPr id="137" name="Text 4"/>
          <p:cNvSpPr/>
          <p:nvPr/>
        </p:nvSpPr>
        <p:spPr>
          <a:xfrm>
            <a:off x="274320" y="40233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A6478"/>
                </a:solidFill>
                <a:latin typeface="Calibri"/>
                <a:ea typeface="Calibri"/>
              </a:rPr>
              <a:t>Registro do aluno e motivos da ocorrência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4754880" y="1143000"/>
            <a:ext cx="411444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12708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Image 1" descr="preencoded.png"/>
          <p:cNvPicPr/>
          <p:nvPr/>
        </p:nvPicPr>
        <p:blipFill>
          <a:blip r:embed="rId4"/>
          <a:stretch/>
        </p:blipFill>
        <p:spPr>
          <a:xfrm>
            <a:off x="4800600" y="1188720"/>
            <a:ext cx="4023000" cy="2742840"/>
          </a:xfrm>
          <a:prstGeom prst="rect">
            <a:avLst/>
          </a:prstGeom>
          <a:ln w="0">
            <a:noFill/>
          </a:ln>
        </p:spPr>
      </p:pic>
      <p:sp>
        <p:nvSpPr>
          <p:cNvPr id="140" name="Text 6"/>
          <p:cNvSpPr/>
          <p:nvPr/>
        </p:nvSpPr>
        <p:spPr>
          <a:xfrm>
            <a:off x="4754880" y="40233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A6478"/>
                </a:solidFill>
                <a:latin typeface="Calibri"/>
                <a:ea typeface="Calibri"/>
              </a:rPr>
              <a:t>Providências, registro final e botão de envio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  <a:ea typeface="Calibri"/>
              </a:rPr>
              <a:t>Como Funciona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731520" y="1371600"/>
            <a:ext cx="1096920" cy="1096920"/>
          </a:xfrm>
          <a:prstGeom prst="ellipse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731520" y="13716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ptos"/>
              </a:rPr>
              <a:t>✍️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457200" y="260604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Professor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preenche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1965960" y="1847160"/>
            <a:ext cx="31968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2176200" y="171900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8102E"/>
                </a:solidFill>
                <a:latin typeface="Aptos"/>
              </a:rPr>
              <a:t>▶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2423160" y="1371600"/>
            <a:ext cx="1096920" cy="1096920"/>
          </a:xfrm>
          <a:prstGeom prst="ellipse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2423160" y="13716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ptos"/>
              </a:rPr>
              <a:t>📄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2148840" y="260604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PDF é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gerado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3657600" y="1847160"/>
            <a:ext cx="31968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3867840" y="171900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8102E"/>
                </a:solidFill>
                <a:latin typeface="Aptos"/>
              </a:rPr>
              <a:t>▶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3"/>
          <p:cNvSpPr/>
          <p:nvPr/>
        </p:nvSpPr>
        <p:spPr>
          <a:xfrm>
            <a:off x="4114800" y="1371600"/>
            <a:ext cx="1096920" cy="1096920"/>
          </a:xfrm>
          <a:prstGeom prst="ellipse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4114800" y="13716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ptos"/>
              </a:rPr>
              <a:t>📧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3840480" y="260604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E-mail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enviado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6"/>
          <p:cNvSpPr/>
          <p:nvPr/>
        </p:nvSpPr>
        <p:spPr>
          <a:xfrm>
            <a:off x="5349240" y="1847160"/>
            <a:ext cx="31968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7"/>
          <p:cNvSpPr/>
          <p:nvPr/>
        </p:nvSpPr>
        <p:spPr>
          <a:xfrm>
            <a:off x="5559480" y="171900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8102E"/>
                </a:solidFill>
                <a:latin typeface="Aptos"/>
              </a:rPr>
              <a:t>▶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8"/>
          <p:cNvSpPr/>
          <p:nvPr/>
        </p:nvSpPr>
        <p:spPr>
          <a:xfrm>
            <a:off x="5806440" y="1371600"/>
            <a:ext cx="1096920" cy="1096920"/>
          </a:xfrm>
          <a:prstGeom prst="ellipse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9"/>
          <p:cNvSpPr/>
          <p:nvPr/>
        </p:nvSpPr>
        <p:spPr>
          <a:xfrm>
            <a:off x="5806440" y="13716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ptos"/>
              </a:rPr>
              <a:t>📱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0"/>
          <p:cNvSpPr/>
          <p:nvPr/>
        </p:nvSpPr>
        <p:spPr>
          <a:xfrm>
            <a:off x="5532120" y="260604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WhatsApp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notificado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1"/>
          <p:cNvSpPr/>
          <p:nvPr/>
        </p:nvSpPr>
        <p:spPr>
          <a:xfrm>
            <a:off x="7040880" y="1847160"/>
            <a:ext cx="31968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2"/>
          <p:cNvSpPr/>
          <p:nvPr/>
        </p:nvSpPr>
        <p:spPr>
          <a:xfrm>
            <a:off x="7251120" y="171900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8102E"/>
                </a:solidFill>
                <a:latin typeface="Aptos"/>
              </a:rPr>
              <a:t>▶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3"/>
          <p:cNvSpPr/>
          <p:nvPr/>
        </p:nvSpPr>
        <p:spPr>
          <a:xfrm>
            <a:off x="7498080" y="1371600"/>
            <a:ext cx="1096920" cy="1096920"/>
          </a:xfrm>
          <a:prstGeom prst="ellipse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24"/>
          <p:cNvSpPr/>
          <p:nvPr/>
        </p:nvSpPr>
        <p:spPr>
          <a:xfrm>
            <a:off x="7498080" y="13716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Aptos"/>
              </a:rPr>
              <a:t>💾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5"/>
          <p:cNvSpPr/>
          <p:nvPr/>
        </p:nvSpPr>
        <p:spPr>
          <a:xfrm>
            <a:off x="7223760" y="260604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Pasta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2C5E"/>
                </a:solidFill>
                <a:latin typeface="Calibri"/>
                <a:ea typeface="Calibri"/>
              </a:rPr>
              <a:t>salva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6"/>
          <p:cNvSpPr/>
          <p:nvPr/>
        </p:nvSpPr>
        <p:spPr>
          <a:xfrm>
            <a:off x="457200" y="3474720"/>
            <a:ext cx="8229240" cy="1279800"/>
          </a:xfrm>
          <a:prstGeom prst="rect">
            <a:avLst/>
          </a:prstGeom>
          <a:solidFill>
            <a:srgbClr val="0A7C3A">
              <a:alpha val="12000"/>
            </a:srgbClr>
          </a:solidFill>
          <a:ln w="19050">
            <a:solidFill>
              <a:srgbClr val="0A7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7"/>
          <p:cNvSpPr/>
          <p:nvPr/>
        </p:nvSpPr>
        <p:spPr>
          <a:xfrm>
            <a:off x="457200" y="3474720"/>
            <a:ext cx="63720" cy="1279800"/>
          </a:xfrm>
          <a:prstGeom prst="rect">
            <a:avLst/>
          </a:prstGeom>
          <a:solidFill>
            <a:srgbClr val="0A7C3A"/>
          </a:solidFill>
          <a:ln w="12700">
            <a:solidFill>
              <a:srgbClr val="0A7C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28"/>
          <p:cNvSpPr/>
          <p:nvPr/>
        </p:nvSpPr>
        <p:spPr>
          <a:xfrm>
            <a:off x="640080" y="356616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A7C3A"/>
                </a:solidFill>
                <a:latin typeface="Calibri"/>
                <a:ea typeface="Calibri"/>
              </a:rPr>
              <a:t>✅  Resultado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9"/>
          <p:cNvSpPr/>
          <p:nvPr/>
        </p:nvSpPr>
        <p:spPr>
          <a:xfrm>
            <a:off x="640080" y="395028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1A4A1A"/>
                </a:solidFill>
                <a:latin typeface="Calibri"/>
                <a:ea typeface="Calibri"/>
              </a:rPr>
              <a:t>PDF oficial salvo automaticamente em Documents/Ocorrencias_JPII · Coordenação notificada por e-mail · Responsável notificado por WhatsApp — tudo em segundos.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A2C5E"/>
          </a:solidFill>
          <a:ln w="12700">
            <a:solidFill>
              <a:srgbClr val="0A2C5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  <a:ea typeface="Calibri"/>
              </a:rPr>
              <a:t>Tecnologias Utilizadas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365760" y="1280160"/>
            <a:ext cx="411444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365760" y="1280160"/>
            <a:ext cx="63720" cy="91404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548640" y="13716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Python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548640" y="1755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478"/>
                </a:solidFill>
                <a:latin typeface="Calibri"/>
                <a:ea typeface="Calibri"/>
              </a:rPr>
              <a:t>Linguagem principal do projeto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4800600" y="1280160"/>
            <a:ext cx="411444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4800600" y="1280160"/>
            <a:ext cx="63720" cy="914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4983480" y="13716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CustomTkinter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4983480" y="1755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478"/>
                </a:solidFill>
                <a:latin typeface="Calibri"/>
                <a:ea typeface="Calibri"/>
              </a:rPr>
              <a:t>Interface gráfica moderna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365760" y="2377440"/>
            <a:ext cx="411444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365760" y="2377440"/>
            <a:ext cx="63720" cy="914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548640" y="24688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ReportLab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548640" y="28530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478"/>
                </a:solidFill>
                <a:latin typeface="Calibri"/>
                <a:ea typeface="Calibri"/>
              </a:rPr>
              <a:t>Geração do PDF oficial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4800600" y="2377440"/>
            <a:ext cx="411444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6"/>
          <p:cNvSpPr/>
          <p:nvPr/>
        </p:nvSpPr>
        <p:spPr>
          <a:xfrm>
            <a:off x="4800600" y="2377440"/>
            <a:ext cx="63720" cy="914040"/>
          </a:xfrm>
          <a:prstGeom prst="rect">
            <a:avLst/>
          </a:prstGeom>
          <a:solidFill>
            <a:srgbClr val="D44638"/>
          </a:solidFill>
          <a:ln w="12700">
            <a:solidFill>
              <a:srgbClr val="D446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4983480" y="24688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SMTP / Gmail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4983480" y="28530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478"/>
                </a:solidFill>
                <a:latin typeface="Calibri"/>
                <a:ea typeface="Calibri"/>
              </a:rPr>
              <a:t>Envio de e-mail com anexo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9"/>
          <p:cNvSpPr/>
          <p:nvPr/>
        </p:nvSpPr>
        <p:spPr>
          <a:xfrm>
            <a:off x="365760" y="3474720"/>
            <a:ext cx="411444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365760" y="3474720"/>
            <a:ext cx="63720" cy="91404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548640" y="35661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PyWhatKit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548640" y="39502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478"/>
                </a:solidFill>
                <a:latin typeface="Calibri"/>
                <a:ea typeface="Calibri"/>
              </a:rPr>
              <a:t>Notificação via WhatsApp Web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4800600" y="3474720"/>
            <a:ext cx="411444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6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4"/>
          <p:cNvSpPr/>
          <p:nvPr/>
        </p:nvSpPr>
        <p:spPr>
          <a:xfrm>
            <a:off x="4800600" y="3474720"/>
            <a:ext cx="63720" cy="914040"/>
          </a:xfrm>
          <a:prstGeom prst="rect">
            <a:avLst/>
          </a:prstGeom>
          <a:solidFill>
            <a:srgbClr val="8A4FFF"/>
          </a:solidFill>
          <a:ln w="12700">
            <a:solidFill>
              <a:srgbClr val="8A4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4983480" y="35661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A2C5E"/>
                </a:solidFill>
                <a:latin typeface="Calibri"/>
                <a:ea typeface="Calibri"/>
              </a:rPr>
              <a:t>Pillow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6"/>
          <p:cNvSpPr/>
          <p:nvPr/>
        </p:nvSpPr>
        <p:spPr>
          <a:xfrm>
            <a:off x="4983480" y="39502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478"/>
                </a:solidFill>
                <a:latin typeface="Calibri"/>
                <a:ea typeface="Calibri"/>
              </a:rPr>
              <a:t>Processamento da logo embutida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457200" y="3657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libri"/>
                <a:ea typeface="Calibri"/>
              </a:rPr>
              <a:t>Impacto Real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457200" y="1005840"/>
            <a:ext cx="2742840" cy="36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457200" y="13716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457200" y="2286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03" name="Shape 6"/>
          <p:cNvSpPr/>
          <p:nvPr/>
        </p:nvSpPr>
        <p:spPr>
          <a:xfrm>
            <a:off x="1395360" y="1234440"/>
            <a:ext cx="2559960" cy="1919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1395360" y="13716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pc="-1" dirty="0" err="1">
                <a:solidFill>
                  <a:srgbClr val="FFFFFF"/>
                </a:solidFill>
                <a:latin typeface="Calibri"/>
                <a:ea typeface="Calibri"/>
              </a:rPr>
              <a:t>Rápido</a:t>
            </a:r>
            <a:endParaRPr lang="en-US" sz="4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1395360" y="2286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A8C4E8"/>
                </a:solidFill>
                <a:latin typeface="Calibri"/>
                <a:ea typeface="Calibri"/>
              </a:rPr>
              <a:t>Espera para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A8C4E8"/>
                </a:solidFill>
                <a:latin typeface="Calibri"/>
                <a:ea typeface="Calibri"/>
              </a:rPr>
              <a:t>envio do PDF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4478400" y="1234440"/>
            <a:ext cx="2559960" cy="1919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4478400" y="13716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Calibri"/>
              </a:rPr>
              <a:t>100%</a:t>
            </a:r>
            <a:endParaRPr lang="en-US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1"/>
          <p:cNvSpPr/>
          <p:nvPr/>
        </p:nvSpPr>
        <p:spPr>
          <a:xfrm>
            <a:off x="4478400" y="2286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A8C4E8"/>
                </a:solidFill>
                <a:latin typeface="Calibri"/>
                <a:ea typeface="Calibri"/>
              </a:rPr>
              <a:t>Processo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A8C4E8"/>
                </a:solidFill>
                <a:latin typeface="Calibri"/>
                <a:ea typeface="Calibri"/>
              </a:rPr>
              <a:t>digitalizado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276480" y="34290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8D8EE"/>
                </a:solidFill>
                <a:latin typeface="Calibri"/>
                <a:ea typeface="Calibri"/>
              </a:rPr>
              <a:t>O sistema elimina burocracia, garante registro rápido e notificação imediata —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8D8EE"/>
                </a:solidFill>
                <a:latin typeface="Calibri"/>
                <a:ea typeface="Calibri"/>
              </a:rPr>
              <a:t>resolvendo um problema real da E.E. João Paulo II.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457200" y="4663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A6A90"/>
                </a:solidFill>
                <a:latin typeface="Calibri"/>
                <a:ea typeface="Calibri"/>
              </a:rPr>
              <a:t>E.E. João Paulo II  ·  Mauá – SP  ·  2026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19"/>
          <p:cNvSpPr/>
          <p:nvPr/>
        </p:nvSpPr>
        <p:spPr>
          <a:xfrm>
            <a:off x="365760" y="477792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strike="noStrike" spc="-1">
                <a:solidFill>
                  <a:srgbClr val="4A6A90"/>
                </a:solidFill>
                <a:latin typeface="Calibri"/>
                <a:ea typeface="Calibri"/>
              </a:rPr>
              <a:t>E.E. João Paulo II  ·  Mauá – SP  ·  2026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LinhaVermelha"/>
          <p:cNvSpPr/>
          <p:nvPr/>
        </p:nvSpPr>
        <p:spPr>
          <a:xfrm>
            <a:off x="457200" y="1005840"/>
            <a:ext cx="8229240" cy="36360"/>
          </a:xfrm>
          <a:prstGeom prst="rect">
            <a:avLst/>
          </a:pr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CardCreditos"/>
          <p:cNvSpPr/>
          <p:nvPr/>
        </p:nvSpPr>
        <p:spPr>
          <a:xfrm>
            <a:off x="457200" y="1371600"/>
            <a:ext cx="8229240" cy="240012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NomeDesenv"/>
          <p:cNvSpPr/>
          <p:nvPr/>
        </p:nvSpPr>
        <p:spPr>
          <a:xfrm>
            <a:off x="457200" y="15001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3600" b="1" strike="noStrike" spc="-1">
                <a:solidFill>
                  <a:srgbClr val="FFFFFF"/>
                </a:solidFill>
                <a:latin typeface="Calibri"/>
              </a:rPr>
              <a:t>Diogo Monari Figueiredo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ubtituloDesenv"/>
          <p:cNvSpPr/>
          <p:nvPr/>
        </p:nvSpPr>
        <p:spPr>
          <a:xfrm>
            <a:off x="457200" y="21200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600" b="0" strike="noStrike" spc="-1" dirty="0">
                <a:solidFill>
                  <a:srgbClr val="A8C4E0"/>
                </a:solidFill>
                <a:latin typeface="Calibri"/>
              </a:rPr>
              <a:t>Desenvolvedor  </a:t>
            </a:r>
            <a:r>
              <a:rPr lang="pt-BR" sz="1600" spc="-1" dirty="0">
                <a:solidFill>
                  <a:srgbClr val="A8C4E0"/>
                </a:solidFill>
                <a:latin typeface="Calibri"/>
              </a:rPr>
              <a:t>do Projeto </a:t>
            </a:r>
            <a:r>
              <a:rPr lang="pt-BR" sz="1600" b="0" strike="noStrike" spc="-1" dirty="0">
                <a:solidFill>
                  <a:srgbClr val="A8C4E0"/>
                </a:solidFill>
                <a:latin typeface="Calibri"/>
              </a:rPr>
              <a:t>·  Mauá, SP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LinhaDivisoria"/>
          <p:cNvSpPr/>
          <p:nvPr/>
        </p:nvSpPr>
        <p:spPr>
          <a:xfrm>
            <a:off x="3200400" y="2480040"/>
            <a:ext cx="1828440" cy="1800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roposito"/>
          <p:cNvSpPr/>
          <p:nvPr/>
        </p:nvSpPr>
        <p:spPr>
          <a:xfrm>
            <a:off x="457200" y="25300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300" b="0" i="1" strike="noStrike" spc="-1">
                <a:solidFill>
                  <a:srgbClr val="D0E4F5"/>
                </a:solidFill>
                <a:latin typeface="Calibri"/>
              </a:rPr>
              <a:t>Modernizar, facilitar e automatizar o registro de ocorrências da E.E. João Paulo II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cnologias"/>
          <p:cNvSpPr/>
          <p:nvPr/>
        </p:nvSpPr>
        <p:spPr>
          <a:xfrm>
            <a:off x="457200" y="2880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100" b="0" strike="noStrike" spc="-1">
                <a:solidFill>
                  <a:srgbClr val="4A6A90"/>
                </a:solidFill>
                <a:latin typeface="Calibri"/>
              </a:rPr>
              <a:t>Python  ·  CustomTkinter  ·  ReportLab  ·  SMTP  ·  PyWhatKit  ·  2026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CaixaDeTexto 218"/>
          <p:cNvSpPr txBox="1"/>
          <p:nvPr/>
        </p:nvSpPr>
        <p:spPr>
          <a:xfrm>
            <a:off x="457200" y="291600"/>
            <a:ext cx="5819400" cy="71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3600" b="1" strike="noStrike" spc="-1">
                <a:solidFill>
                  <a:srgbClr val="FFFFFF"/>
                </a:solidFill>
                <a:latin typeface="Calibri"/>
              </a:rPr>
              <a:t>Finalização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334</Words>
  <Application>Microsoft Office PowerPoint</Application>
  <PresentationFormat>Apresentação na tela (16:9)</PresentationFormat>
  <Paragraphs>91</Paragraphs>
  <Slides>8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12</vt:i4>
      </vt:variant>
      <vt:variant>
        <vt:lpstr>Títulos de slides</vt:lpstr>
      </vt:variant>
      <vt:variant>
        <vt:i4>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de Ocorrência Disciplinar — E.E. João Paulo II</dc:title>
  <dc:subject>PptxGenJS Presentation</dc:subject>
  <dc:creator>PptxGenJS</dc:creator>
  <dc:description/>
  <cp:lastModifiedBy>Anony 7</cp:lastModifiedBy>
  <cp:revision>5</cp:revision>
  <dcterms:created xsi:type="dcterms:W3CDTF">2026-04-17T00:29:22Z</dcterms:created>
  <dcterms:modified xsi:type="dcterms:W3CDTF">2026-06-27T03:16:55Z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8</vt:i4>
  </property>
</Properties>
</file>